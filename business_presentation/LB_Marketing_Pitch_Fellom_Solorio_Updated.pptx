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LB MARKETING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Digital Marketing — Results in 30 Days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2606040"/>
            <a:ext cx="91440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2788920"/>
            <a:ext cx="4937760" cy="1371600"/>
          </a:xfrm>
          <a:prstGeom prst="rect">
            <a:avLst/>
          </a:prstGeom>
          <a:solidFill>
            <a:srgbClr val="2E2E3A"/>
          </a:solidFill>
          <a:ln w="12700">
            <a:solidFill>
              <a:srgbClr val="2E2E3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2834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Presented to: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309067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Fellom &amp; Solorio Law Offices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94360" y="34930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San Francisco, CA  •  March 2026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23560" y="2788920"/>
            <a:ext cx="3154680" cy="438912"/>
          </a:xfrm>
          <a:prstGeom prst="rect">
            <a:avLst/>
          </a:prstGeom>
          <a:solidFill>
            <a:srgbClr val="2E2E3A"/>
          </a:solidFill>
          <a:ln w="12700">
            <a:solidFill>
              <a:srgbClr val="2E2E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15000" y="279806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715000" y="303580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No Lock-In Demo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623560" y="3291840"/>
            <a:ext cx="3154680" cy="438912"/>
          </a:xfrm>
          <a:prstGeom prst="rect">
            <a:avLst/>
          </a:prstGeom>
          <a:solidFill>
            <a:srgbClr val="2E2E3A"/>
          </a:solidFill>
          <a:ln w="12700">
            <a:solidFill>
              <a:srgbClr val="2E2E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15000" y="330098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715000" y="353872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To First Results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623560" y="3794760"/>
            <a:ext cx="3154680" cy="438912"/>
          </a:xfrm>
          <a:prstGeom prst="rect">
            <a:avLst/>
          </a:prstGeom>
          <a:solidFill>
            <a:srgbClr val="2E2E3A"/>
          </a:solidFill>
          <a:ln w="12700">
            <a:solidFill>
              <a:srgbClr val="2E2E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15000" y="380390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715000" y="4041648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New Reviews Target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Confidential  -  LB Marketing  -  San Francisco, CA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"/>
            <a:ext cx="91440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LB Marketing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0" y="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About Us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Confidential  -  LB Marketing  -  San Francisco, CA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" y="54864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Are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20040" y="118872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LB Marketing is a San Francisco, CA-based local digital marketing agency built specifically for small and medium businesses in three verticals: Salons &amp; Spas, Legal &amp; Professional Services, and Home Services. We combine hands-on agency work with a proprietary software platform to deliver measurable results -- fast.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577840" y="548640"/>
            <a:ext cx="3246120" cy="1737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715000" y="5943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Our Approach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715000" y="96012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✓  Audit -&gt; Fix -&gt; Measure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715000" y="126187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✓  Leads with leading indicators only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715000" y="156362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✓  Specific gaps, not generic pitches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715000" y="1865376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✓  Platform-powered delivery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514600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514600"/>
            <a:ext cx="64008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" y="25786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Results First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" y="2862072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Tangible outcomes by end of Week 4 -- before you commit to anything more.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82312" y="2514600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82312" y="2514600"/>
            <a:ext cx="64008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46904" y="257860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No Lock-In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46904" y="2862072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Month-to-month structure. Earn your trust every month.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3611880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3611880"/>
            <a:ext cx="64008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" y="367588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Vertical Expertise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4632" y="3959352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Deep focus on 3 industries means faster wins, not generic strategy.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82312" y="3611880"/>
            <a:ext cx="4206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82312" y="3611880"/>
            <a:ext cx="64008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46904" y="367588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Proprietary Platform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946904" y="3959352"/>
            <a:ext cx="3886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Built-in tools for audit reports, review campaigns &amp; month-end reporting.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"/>
            <a:ext cx="91440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LB Marketing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0" y="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Your Business Analysis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Confidential  -  LB Marketing  -  San Francisco, CA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" y="54864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Found: Fellom &amp; Solorio Law Offices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0040" y="107899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A snapshot of your current online presence — the gaps and the opportunities.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463040"/>
            <a:ext cx="283464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4630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Metric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1463040"/>
            <a:ext cx="283464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4630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Current State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80760" y="1463040"/>
            <a:ext cx="283464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14630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Opportunity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1847088"/>
            <a:ext cx="28346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184708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Google Business Profile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0" y="1847088"/>
            <a:ext cx="28346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184708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Claimed — incomplete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80760" y="1847088"/>
            <a:ext cx="28346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184708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Map Pack Opportunity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2249424"/>
            <a:ext cx="2834640" cy="384048"/>
          </a:xfrm>
          <a:prstGeom prst="rect">
            <a:avLst/>
          </a:prstGeom>
          <a:solidFill>
            <a:srgbClr val="EEF2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249424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Star Rating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0" y="2249424"/>
            <a:ext cx="2834640" cy="384048"/>
          </a:xfrm>
          <a:prstGeom prst="rect">
            <a:avLst/>
          </a:prstGeom>
          <a:solidFill>
            <a:srgbClr val="EEF2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91840" y="2249424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4.7 ★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80760" y="2249424"/>
            <a:ext cx="2834640" cy="384048"/>
          </a:xfrm>
          <a:prstGeom prst="rect">
            <a:avLst/>
          </a:prstGeom>
          <a:solidFill>
            <a:srgbClr val="EEF2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72200" y="2249424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Review Gap vs. Top 3 (1441 vs 32)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0040" y="2651760"/>
            <a:ext cx="28346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265176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Review Count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0" y="2651760"/>
            <a:ext cx="28346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91840" y="265176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32 reviews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080760" y="2651760"/>
            <a:ext cx="28346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72200" y="265176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Keyword gap: 'immigration law SF'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0040" y="3054096"/>
            <a:ext cx="2834640" cy="384048"/>
          </a:xfrm>
          <a:prstGeom prst="rect">
            <a:avLst/>
          </a:prstGeom>
          <a:solidFill>
            <a:srgbClr val="EEF2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3054096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Map Pack Rank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00400" y="3054096"/>
            <a:ext cx="2834640" cy="384048"/>
          </a:xfrm>
          <a:prstGeom prst="rect">
            <a:avLst/>
          </a:prstGeom>
          <a:solidFill>
            <a:srgbClr val="EEF2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1840" y="3054096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Not ranked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080760" y="3054096"/>
            <a:ext cx="2834640" cy="384048"/>
          </a:xfrm>
          <a:prstGeom prst="rect">
            <a:avLst/>
          </a:prstGeom>
          <a:solidFill>
            <a:srgbClr val="EEF2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172200" y="3054096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Profile Completion incomplete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20040" y="3456432"/>
            <a:ext cx="28346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345643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Last Review Response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200400" y="3456432"/>
            <a:ext cx="28346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91840" y="345643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Never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080760" y="3456432"/>
            <a:ext cx="28346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172200" y="345643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32 reviews with no owner response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20040" y="3858768"/>
            <a:ext cx="2834640" cy="384048"/>
          </a:xfrm>
          <a:prstGeom prst="rect">
            <a:avLst/>
          </a:prstGeom>
          <a:solidFill>
            <a:srgbClr val="EEF2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1480" y="385876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Quick Win Potential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200400" y="3858768"/>
            <a:ext cx="2834640" cy="384048"/>
          </a:xfrm>
          <a:prstGeom prst="rect">
            <a:avLst/>
          </a:prstGeom>
          <a:solidFill>
            <a:srgbClr val="EEF2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91840" y="385876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—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080760" y="3858768"/>
            <a:ext cx="2834640" cy="384048"/>
          </a:xfrm>
          <a:prstGeom prst="rect">
            <a:avLst/>
          </a:prstGeom>
          <a:solidFill>
            <a:srgbClr val="EEF2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72200" y="3858768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HIGH — GBP + reviews in 30 days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"/>
            <a:ext cx="91440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LB Marketing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0" y="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Local Competitor Analysis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Confidential  -  LB Marketing  -  San Francisco, CA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" y="54864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You Stack Up Against Local Competitors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0040" y="107899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Data pulled from Google &amp; Yelp for your primary service area.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463040"/>
            <a:ext cx="242316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4630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Business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88920" y="1463040"/>
            <a:ext cx="155448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34640" y="1463040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Google Rating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89120" y="1463040"/>
            <a:ext cx="100584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34840" y="146304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Reviews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40680" y="1463040"/>
            <a:ext cx="100584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0" y="146304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Map Pack?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92240" y="1463040"/>
            <a:ext cx="100584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146304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GBP Done?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543800" y="1463040"/>
            <a:ext cx="128016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89520" y="146304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Website?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1847088"/>
            <a:ext cx="2423160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184708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Fellom &amp; Solorio ← You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88920" y="1847088"/>
            <a:ext cx="1554480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34640" y="184708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4.7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89120" y="1847088"/>
            <a:ext cx="1005840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34840" y="184708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32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40680" y="1847088"/>
            <a:ext cx="1005840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0" y="184708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No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92240" y="1847088"/>
            <a:ext cx="1005840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37960" y="184708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</a:rPr>
              <a:t>No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543800" y="1847088"/>
            <a:ext cx="1280160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0" y="184708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Yes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0040" y="2249424"/>
            <a:ext cx="2423160" cy="384048"/>
          </a:xfrm>
          <a:prstGeom prst="rect">
            <a:avLst/>
          </a:prstGeom>
          <a:solidFill>
            <a:srgbClr val="EEF2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2249424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KPB Immigration Law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88920" y="2249424"/>
            <a:ext cx="1554480" cy="384048"/>
          </a:xfrm>
          <a:prstGeom prst="rect">
            <a:avLst/>
          </a:prstGeom>
          <a:solidFill>
            <a:srgbClr val="EEF2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834640" y="2249424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4.9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389120" y="2249424"/>
            <a:ext cx="1005840" cy="384048"/>
          </a:xfrm>
          <a:prstGeom prst="rect">
            <a:avLst/>
          </a:prstGeom>
          <a:solidFill>
            <a:srgbClr val="EEF2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34840" y="2249424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1441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440680" y="2249424"/>
            <a:ext cx="1005840" cy="384048"/>
          </a:xfrm>
          <a:prstGeom prst="rect">
            <a:avLst/>
          </a:prstGeom>
          <a:solidFill>
            <a:srgbClr val="EEF2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0" y="2249424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A34A"/>
                </a:solidFill>
              </a:rPr>
              <a:t>Yes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492240" y="2249424"/>
            <a:ext cx="1005840" cy="384048"/>
          </a:xfrm>
          <a:prstGeom prst="rect">
            <a:avLst/>
          </a:prstGeom>
          <a:solidFill>
            <a:srgbClr val="EEF2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37960" y="2249424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A34A"/>
                </a:solidFill>
              </a:rPr>
              <a:t>Yes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543800" y="2249424"/>
            <a:ext cx="1280160" cy="384048"/>
          </a:xfrm>
          <a:prstGeom prst="rect">
            <a:avLst/>
          </a:prstGeom>
          <a:solidFill>
            <a:srgbClr val="EEF2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589520" y="2249424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A34A"/>
                </a:solidFill>
              </a:rPr>
              <a:t>Yes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20040" y="2651760"/>
            <a:ext cx="24231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265176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Shamieh &amp; Ternieden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788920" y="2651760"/>
            <a:ext cx="15544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834640" y="265176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4.8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389120" y="2651760"/>
            <a:ext cx="1005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434840" y="265176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418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440680" y="2651760"/>
            <a:ext cx="1005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86400" y="265176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A34A"/>
                </a:solidFill>
              </a:rPr>
              <a:t>Yes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492240" y="2651760"/>
            <a:ext cx="1005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37960" y="2651760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A34A"/>
                </a:solidFill>
              </a:rPr>
              <a:t>Yes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543800" y="2651760"/>
            <a:ext cx="12801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589520" y="265176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A34A"/>
                </a:solidFill>
              </a:rPr>
              <a:t>Yes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320040" y="3054096"/>
            <a:ext cx="2423160" cy="384048"/>
          </a:xfrm>
          <a:prstGeom prst="rect">
            <a:avLst/>
          </a:prstGeom>
          <a:solidFill>
            <a:srgbClr val="EEF2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65760" y="3054096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Kolomejec Law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2788920" y="3054096"/>
            <a:ext cx="1554480" cy="384048"/>
          </a:xfrm>
          <a:prstGeom prst="rect">
            <a:avLst/>
          </a:prstGeom>
          <a:solidFill>
            <a:srgbClr val="EEF2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834640" y="3054096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4.9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389120" y="3054096"/>
            <a:ext cx="1005840" cy="384048"/>
          </a:xfrm>
          <a:prstGeom prst="rect">
            <a:avLst/>
          </a:prstGeom>
          <a:solidFill>
            <a:srgbClr val="EEF2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434840" y="3054096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364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5440680" y="3054096"/>
            <a:ext cx="1005840" cy="384048"/>
          </a:xfrm>
          <a:prstGeom prst="rect">
            <a:avLst/>
          </a:prstGeom>
          <a:solidFill>
            <a:srgbClr val="EEF2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486400" y="3054096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2626"/>
                </a:solidFill>
              </a:rPr>
              <a:t>No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6492240" y="3054096"/>
            <a:ext cx="1005840" cy="384048"/>
          </a:xfrm>
          <a:prstGeom prst="rect">
            <a:avLst/>
          </a:prstGeom>
          <a:solidFill>
            <a:srgbClr val="EEF2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537960" y="3054096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2626"/>
                </a:solidFill>
              </a:rPr>
              <a:t>No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7543800" y="3054096"/>
            <a:ext cx="1280160" cy="384048"/>
          </a:xfrm>
          <a:prstGeom prst="rect">
            <a:avLst/>
          </a:prstGeom>
          <a:solidFill>
            <a:srgbClr val="EEF2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589520" y="305409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A34A"/>
                </a:solidFill>
              </a:rPr>
              <a:t>Yes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320040" y="3456432"/>
            <a:ext cx="24231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65760" y="345643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Silveira Law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2788920" y="3456432"/>
            <a:ext cx="15544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834640" y="345643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4.8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4389120" y="3456432"/>
            <a:ext cx="1005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434840" y="3456432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247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5440680" y="3456432"/>
            <a:ext cx="1005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486400" y="3456432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2626"/>
                </a:solidFill>
              </a:rPr>
              <a:t>No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6492240" y="3456432"/>
            <a:ext cx="10058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537960" y="3456432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2626"/>
                </a:solidFill>
              </a:rPr>
              <a:t>No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7543800" y="3456432"/>
            <a:ext cx="12801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589520" y="345643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A34A"/>
                </a:solidFill>
              </a:rPr>
              <a:t>Yes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320040" y="3977640"/>
            <a:ext cx="8503920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2" name="Text 80"/>
          <p:cNvSpPr/>
          <p:nvPr/>
        </p:nvSpPr>
        <p:spPr>
          <a:xfrm>
            <a:off x="502920" y="4023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</a:rPr>
              <a:t>Key Insight:</a:t>
            </a:r>
            <a:endParaRPr lang="en-US" sz="1200" dirty="0"/>
          </a:p>
        </p:txBody>
      </p:sp>
      <p:sp>
        <p:nvSpPr>
          <p:cNvPr id="83" name="Text 81"/>
          <p:cNvSpPr/>
          <p:nvPr/>
        </p:nvSpPr>
        <p:spPr>
          <a:xfrm>
            <a:off x="1737360" y="4005072"/>
            <a:ext cx="6903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4.7 rating trails the competitor average (4.8). 4 of 4 competitors have more reviews (top: 1441 vs 32) — growing review volume is the fastest path to closing this gap.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"/>
            <a:ext cx="91440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LB Marketing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0" y="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Month 1 Delivery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Confidential  -  LB Marketing  -  San Francisco, CA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" y="54864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30 Days — What We Deliver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20040" y="1234440"/>
            <a:ext cx="4206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234440"/>
            <a:ext cx="420624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25272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Week 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508760" y="125272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Full Digital Presence Audit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" y="1709928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–  Google Business Profile, Yelp, website, reviews, local rankings reviewed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" y="2048256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–  Written audit report delivered by Day 5 -- prioritised action list included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82312" y="1234440"/>
            <a:ext cx="4206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82312" y="1234440"/>
            <a:ext cx="420624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9472" y="125272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Week 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71032" y="125272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GBP Optimisation + Review Response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46904" y="1709928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–  Every GBP field completed: categories, services, hours, photos, description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46904" y="2048256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–  All unanswered reviews responded to professionally (positive &amp; negative)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2926080"/>
            <a:ext cx="4206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926080"/>
            <a:ext cx="420624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94436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Week 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508760" y="294436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Review Generation Campaign + Content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" y="3401568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–  Personalised SMS/email review requests sent to recent customers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4632" y="3739896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–  Target: 5-10 new Google reviews in Month 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" y="4078224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–  First content published (vertical-specific)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82312" y="2926080"/>
            <a:ext cx="42062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82312" y="2926080"/>
            <a:ext cx="420624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19472" y="294436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Week 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971032" y="294436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Month-End Report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46904" y="3401568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–  Before/after comparison across every metric tracked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46904" y="3739896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–  Rankings, review count &amp; rating, profile views -- clearly documented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"/>
            <a:ext cx="91440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LB Marketing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0" y="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Vertical-Specific Deliverables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Confidential  -  LB Marketing  -  San Francisco, CA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" y="54864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 Extras: Tailored to Your Industry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0040" y="107899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The universal Month 1 package plus the actions that move the needle fastest for your specific vertical.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463040"/>
            <a:ext cx="850392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4813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Legal &amp; Professional Services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199339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19933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Local keyword ranking baseline (top 5 practice-area + city terms)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246888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2468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GBP services section fully built out with practice areas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294436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✓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29443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On-page SEO quick-fixes applied to homepage &amp; top service page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41985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341985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Post-matter review request process set up + first batch sent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389534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✓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38953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</a:rPr>
              <a:t>Quick-win target: map pack entry for 1+ core keyword by Day 30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"/>
            <a:ext cx="91440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LB Marketing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0" y="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Your Starting Point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Confidential  -  LB Marketing  -  San Francisco, CA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" y="54864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Adapt To Where You Are Today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20040" y="1234440"/>
            <a:ext cx="420624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23444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Established but Invisible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" y="1618488"/>
            <a:ext cx="4206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" y="1636776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You have a solid business but little or no online presence. Customers find you through referrals, not search.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221992"/>
            <a:ext cx="4206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221992"/>
            <a:ext cx="77724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221992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Week 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222199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Audit + full GBP build-out from scratch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724912"/>
            <a:ext cx="4206240" cy="457200"/>
          </a:xfrm>
          <a:prstGeom prst="rect">
            <a:avLst/>
          </a:prstGeom>
          <a:solidFill>
            <a:srgbClr val="EEF2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724912"/>
            <a:ext cx="77724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724912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Week 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88720" y="272491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Citations, categories, photos, service listings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227832"/>
            <a:ext cx="4206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3227832"/>
            <a:ext cx="77724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227832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Week 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88720" y="322783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First review generation campaign to existing customers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3730752"/>
            <a:ext cx="4206240" cy="457200"/>
          </a:xfrm>
          <a:prstGeom prst="rect">
            <a:avLst/>
          </a:prstGeom>
          <a:solidFill>
            <a:srgbClr val="EEF2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3730752"/>
            <a:ext cx="77724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730752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Week 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88720" y="373075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First reviews in -- profile views increasing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82312" y="1234440"/>
            <a:ext cx="420624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123444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Present but Underperforming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782312" y="1618488"/>
            <a:ext cx="42062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1636776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You've tried -- a website, a Google listing, maybe social -- but results are inconsistent and your rating is holding you back.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82312" y="2221992"/>
            <a:ext cx="4206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82312" y="2221992"/>
            <a:ext cx="77724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28032" y="2221992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Week 1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650992" y="222199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Audit -- emphasis on what's actively hurting you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82312" y="2724912"/>
            <a:ext cx="4206240" cy="457200"/>
          </a:xfrm>
          <a:prstGeom prst="rect">
            <a:avLst/>
          </a:prstGeom>
          <a:solidFill>
            <a:srgbClr val="EEF2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82312" y="2724912"/>
            <a:ext cx="77724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28032" y="2724912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Week 2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650992" y="272491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Respond to negative reviews; correct inconsistent data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82312" y="3227832"/>
            <a:ext cx="42062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82312" y="3227832"/>
            <a:ext cx="77724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28032" y="3227832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Week 3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650992" y="322783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Review velocity campaign -- push rating above 4.0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82312" y="3730752"/>
            <a:ext cx="4206240" cy="457200"/>
          </a:xfrm>
          <a:prstGeom prst="rect">
            <a:avLst/>
          </a:prstGeom>
          <a:solidFill>
            <a:srgbClr val="EEF2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82312" y="3730752"/>
            <a:ext cx="77724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28032" y="3730752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Week 4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650992" y="3730752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Star rating improved; negative review ratio reduced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20040" y="4251960"/>
            <a:ext cx="8503920" cy="384048"/>
          </a:xfrm>
          <a:prstGeom prst="rect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2920" y="427939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Fellom &amp; Solorio Law Offices best fits:  [ ] Established but Invisible     [✓] Present but Underperforming     [ ] Mix of both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"/>
            <a:ext cx="91440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LB Marketing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0" y="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What We Need From You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Confidential  -  LB Marketing  -  San Francisco, CA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" y="54864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— That's It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0040" y="107899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We handle everything else. Here's your only to-do list for Month 1.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508760"/>
            <a:ext cx="80467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508760"/>
            <a:ext cx="50292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50876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</a:rPr>
              <a:t>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32688" y="15819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Google Business Profile Access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32688" y="189280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Owner-level access so we can make changes directly. Takes 2 minutes to grant.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2468880"/>
            <a:ext cx="80467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468880"/>
            <a:ext cx="50292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46888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32688" y="25420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20-Minute Onboarding Call — Week 1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32688" y="285292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We learn your business priorities, confirm your target keywords, and set reporting preferences.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3429000"/>
            <a:ext cx="80467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429000"/>
            <a:ext cx="50292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42900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32688" y="35021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A Handful of Customer Names / Emails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32688" y="381304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For the Week 3 review request campaign. We draft every message -- you just provide the list.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4480560"/>
            <a:ext cx="8046720" cy="16459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462272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 Lock-In.  Month 1 is month-to-month. If we haven't earned your confidence by end of Week 4, you can walk away — no penalties.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"/>
            <a:ext cx="91440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LB Marketing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0" y="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Why LB Marketing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Confidential  -  LB Marketing  -  San Francisco, CA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" y="54864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Compare to Other Marketing Services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20040" y="1143000"/>
            <a:ext cx="242316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1430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Feature / Provider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88920" y="1143000"/>
            <a:ext cx="173736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114300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LB Marketing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1143000"/>
            <a:ext cx="173736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1143000"/>
            <a:ext cx="1691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Hibu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355080" y="1143000"/>
            <a:ext cx="118872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14300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Generic Agency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589520" y="1143000"/>
            <a:ext cx="123444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35240" y="11430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DIY / In-House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1563624"/>
            <a:ext cx="24231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156362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Contract / Lock-In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88920" y="1563624"/>
            <a:ext cx="1737360" cy="347472"/>
          </a:xfrm>
          <a:prstGeom prst="rect">
            <a:avLst/>
          </a:prstGeom>
          <a:solidFill>
            <a:srgbClr val="E0F7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34640" y="1563624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None — month-to-month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0" y="1563624"/>
            <a:ext cx="1737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17720" y="1563624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12-24 months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355080" y="1563624"/>
            <a:ext cx="11887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1563624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Often 6-12 mo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589520" y="1563624"/>
            <a:ext cx="12344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35240" y="156362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N/A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1929384"/>
            <a:ext cx="2423160" cy="347472"/>
          </a:xfrm>
          <a:prstGeom prst="rect">
            <a:avLst/>
          </a:prstGeom>
          <a:solidFill>
            <a:srgbClr val="EEF2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192938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Local SEO Expertise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88920" y="1929384"/>
            <a:ext cx="1737360" cy="347472"/>
          </a:xfrm>
          <a:prstGeom prst="rect">
            <a:avLst/>
          </a:prstGeom>
          <a:solidFill>
            <a:srgbClr val="C8F0F4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34640" y="1929384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Deep — 3 verticals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0" y="1929384"/>
            <a:ext cx="1737360" cy="347472"/>
          </a:xfrm>
          <a:prstGeom prst="rect">
            <a:avLst/>
          </a:prstGeom>
          <a:solidFill>
            <a:srgbClr val="EEF2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17720" y="1929384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Generalist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355080" y="1929384"/>
            <a:ext cx="1188720" cy="347472"/>
          </a:xfrm>
          <a:prstGeom prst="rect">
            <a:avLst/>
          </a:prstGeom>
          <a:solidFill>
            <a:srgbClr val="EEF2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0" y="1929384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Varies widely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589520" y="1929384"/>
            <a:ext cx="1234440" cy="347472"/>
          </a:xfrm>
          <a:prstGeom prst="rect">
            <a:avLst/>
          </a:prstGeom>
          <a:solidFill>
            <a:srgbClr val="EEF2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35240" y="192938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Limited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0040" y="2295144"/>
            <a:ext cx="24231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229514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GBP Optimisation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788920" y="2295144"/>
            <a:ext cx="1737360" cy="347472"/>
          </a:xfrm>
          <a:prstGeom prst="rect">
            <a:avLst/>
          </a:prstGeom>
          <a:solidFill>
            <a:srgbClr val="E0F7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834640" y="2295144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Week 2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572000" y="2295144"/>
            <a:ext cx="1737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17720" y="2295144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(slow)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355080" y="2295144"/>
            <a:ext cx="11887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0" y="2295144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Sometimes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589520" y="2295144"/>
            <a:ext cx="12344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635240" y="229514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Manual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20040" y="2660904"/>
            <a:ext cx="2423160" cy="347472"/>
          </a:xfrm>
          <a:prstGeom prst="rect">
            <a:avLst/>
          </a:prstGeom>
          <a:solidFill>
            <a:srgbClr val="EEF2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" y="266090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Review Generation Campaign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2788920" y="2660904"/>
            <a:ext cx="1737360" cy="347472"/>
          </a:xfrm>
          <a:prstGeom prst="rect">
            <a:avLst/>
          </a:prstGeom>
          <a:solidFill>
            <a:srgbClr val="C8F0F4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834640" y="2660904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Week 3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572000" y="2660904"/>
            <a:ext cx="1737360" cy="347472"/>
          </a:xfrm>
          <a:prstGeom prst="rect">
            <a:avLst/>
          </a:prstGeom>
          <a:solidFill>
            <a:srgbClr val="EEF2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617720" y="2660904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Limited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355080" y="2660904"/>
            <a:ext cx="1188720" cy="347472"/>
          </a:xfrm>
          <a:prstGeom prst="rect">
            <a:avLst/>
          </a:prstGeom>
          <a:solidFill>
            <a:srgbClr val="EEF2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00800" y="2660904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Add-on cost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7589520" y="2660904"/>
            <a:ext cx="1234440" cy="347472"/>
          </a:xfrm>
          <a:prstGeom prst="rect">
            <a:avLst/>
          </a:prstGeom>
          <a:solidFill>
            <a:srgbClr val="EEF2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635240" y="266090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Time-intensive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20040" y="3026664"/>
            <a:ext cx="24231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65760" y="302666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Month-End Reporting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2788920" y="3026664"/>
            <a:ext cx="1737360" cy="347472"/>
          </a:xfrm>
          <a:prstGeom prst="rect">
            <a:avLst/>
          </a:prstGeom>
          <a:solidFill>
            <a:srgbClr val="E0F7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834640" y="3026664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Week 4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4572000" y="3026664"/>
            <a:ext cx="1737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617720" y="3026664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Automated only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6355080" y="3026664"/>
            <a:ext cx="11887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0" y="3026664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Varies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7589520" y="3026664"/>
            <a:ext cx="12344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635240" y="302666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None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320040" y="3392424"/>
            <a:ext cx="2423160" cy="347472"/>
          </a:xfrm>
          <a:prstGeom prst="rect">
            <a:avLst/>
          </a:prstGeom>
          <a:solidFill>
            <a:srgbClr val="EEF2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65760" y="339242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Results in First 30 Days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2788920" y="3392424"/>
            <a:ext cx="1737360" cy="347472"/>
          </a:xfrm>
          <a:prstGeom prst="rect">
            <a:avLst/>
          </a:prstGeom>
          <a:solidFill>
            <a:srgbClr val="C8F0F4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834640" y="3392424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Guaranteed focus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4572000" y="3392424"/>
            <a:ext cx="1737360" cy="347472"/>
          </a:xfrm>
          <a:prstGeom prst="rect">
            <a:avLst/>
          </a:prstGeom>
          <a:solidFill>
            <a:srgbClr val="EEF2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617720" y="3392424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Unlikely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6355080" y="3392424"/>
            <a:ext cx="1188720" cy="347472"/>
          </a:xfrm>
          <a:prstGeom prst="rect">
            <a:avLst/>
          </a:prstGeom>
          <a:solidFill>
            <a:srgbClr val="EEF2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400800" y="3392424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Setup phase only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7589520" y="3392424"/>
            <a:ext cx="1234440" cy="347472"/>
          </a:xfrm>
          <a:prstGeom prst="rect">
            <a:avLst/>
          </a:prstGeom>
          <a:solidFill>
            <a:srgbClr val="EEF2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635240" y="339242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Unlikely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320040" y="3758184"/>
            <a:ext cx="24231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65760" y="375818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Proprietary Platform / Tools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2788920" y="3758184"/>
            <a:ext cx="1737360" cy="347472"/>
          </a:xfrm>
          <a:prstGeom prst="rect">
            <a:avLst/>
          </a:prstGeom>
          <a:solidFill>
            <a:srgbClr val="E0F7F9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834640" y="3758184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Included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4572000" y="3758184"/>
            <a:ext cx="1737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617720" y="3758184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No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6355080" y="3758184"/>
            <a:ext cx="11887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400800" y="3758184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No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7589520" y="3758184"/>
            <a:ext cx="12344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635240" y="375818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No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320040" y="4123944"/>
            <a:ext cx="2423160" cy="347472"/>
          </a:xfrm>
          <a:prstGeom prst="rect">
            <a:avLst/>
          </a:prstGeom>
          <a:solidFill>
            <a:srgbClr val="EEF2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65760" y="412394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Trustpilot Score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2788920" y="4123944"/>
            <a:ext cx="1737360" cy="347472"/>
          </a:xfrm>
          <a:prstGeom prst="rect">
            <a:avLst/>
          </a:prstGeom>
          <a:solidFill>
            <a:srgbClr val="C8F0F4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2834640" y="4123944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</a:rPr>
              <a:t>N/A — new agency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4572000" y="4123944"/>
            <a:ext cx="1737360" cy="347472"/>
          </a:xfrm>
          <a:prstGeom prst="rect">
            <a:avLst/>
          </a:prstGeom>
          <a:solidFill>
            <a:srgbClr val="EEF2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617720" y="4123944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~2.5 / 5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6355080" y="4123944"/>
            <a:ext cx="1188720" cy="347472"/>
          </a:xfrm>
          <a:prstGeom prst="rect">
            <a:avLst/>
          </a:prstGeom>
          <a:solidFill>
            <a:srgbClr val="EEF2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400800" y="4123944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Varies</a:t>
            </a:r>
            <a:endParaRPr lang="en-US" sz="1000" dirty="0"/>
          </a:p>
        </p:txBody>
      </p:sp>
      <p:sp>
        <p:nvSpPr>
          <p:cNvPr id="96" name="Shape 94"/>
          <p:cNvSpPr/>
          <p:nvPr/>
        </p:nvSpPr>
        <p:spPr>
          <a:xfrm>
            <a:off x="7589520" y="4123944"/>
            <a:ext cx="1234440" cy="347472"/>
          </a:xfrm>
          <a:prstGeom prst="rect">
            <a:avLst/>
          </a:prstGeom>
          <a:solidFill>
            <a:srgbClr val="EEF2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7635240" y="412394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N/A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"/>
            <a:ext cx="91440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LB Marketing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0" y="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Pricing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Confidential  -  LB Marketing  -  San Francisco, CA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" y="50292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&amp; Service Tiers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0040" y="102412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Month 1 is the demo. Each tier builds on the last — move up when you're ready, cancel anytime.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" y="1371600"/>
            <a:ext cx="2029968" cy="658368"/>
          </a:xfrm>
          <a:prstGeom prst="rect">
            <a:avLst/>
          </a:prstGeom>
          <a:solidFill>
            <a:srgbClr val="2E2E3A"/>
          </a:solidFill>
          <a:ln w="12700">
            <a:solidFill>
              <a:srgbClr val="2E2E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" y="1389888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Month 1 Demo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" y="1682496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$200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298448" y="1389888"/>
            <a:ext cx="914400" cy="21945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98448" y="13898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START HERE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256032" y="2029968"/>
            <a:ext cx="2029968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47472" y="2103120"/>
            <a:ext cx="1892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✓  Full digital presence audit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47472" y="2441448"/>
            <a:ext cx="1892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✓  GBP optimisation (all fields)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47472" y="2779776"/>
            <a:ext cx="1892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✓  All reviews responded to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47472" y="3118104"/>
            <a:ext cx="1892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✓  Review generation campaign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47472" y="3456432"/>
            <a:ext cx="1892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✓  Month-end before/after report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47472" y="3794760"/>
            <a:ext cx="1892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✓  Vertical-specific quick wins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47472" y="4133088"/>
            <a:ext cx="1892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✓  No contract — cancel anytime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423160" y="1371600"/>
            <a:ext cx="2029968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96312" y="1389888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Starter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496312" y="1682496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$750/mo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465576" y="1389888"/>
            <a:ext cx="914400" cy="21945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65576" y="13898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MONTH 2+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2423160" y="2029968"/>
            <a:ext cx="2029968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514600" y="2103120"/>
            <a:ext cx="1892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</a:rPr>
              <a:t>✓  Everything in Month 1, ongoing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514600" y="2441448"/>
            <a:ext cx="1892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✓  4 GBP posts/month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514600" y="2779776"/>
            <a:ext cx="1892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✓  Yelp management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514600" y="3118104"/>
            <a:ext cx="1892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✓  Monthly review drip campaign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514600" y="3456432"/>
            <a:ext cx="1892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✓  Citation audit (quarterly)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514600" y="3794760"/>
            <a:ext cx="1892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✓  5 keywords tracked monthly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514600" y="4133088"/>
            <a:ext cx="1892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✓  30-min monthly call + report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90288" y="1371600"/>
            <a:ext cx="2029968" cy="6583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63440" y="1389888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Growth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663440" y="1682496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$1,500/mo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632704" y="1389888"/>
            <a:ext cx="914400" cy="219456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32704" y="13898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MOST POPULAR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4590288" y="2029968"/>
            <a:ext cx="2029968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681728" y="2103120"/>
            <a:ext cx="1892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</a:rPr>
              <a:t>✓  Everything in Starter, plus: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681728" y="2441448"/>
            <a:ext cx="1892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✓  2 blog posts/month (500-800 words)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681728" y="2779776"/>
            <a:ext cx="1892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✓  8 social posts/month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681728" y="3118104"/>
            <a:ext cx="1892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✓  10-15 keywords tracked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681728" y="3456432"/>
            <a:ext cx="1892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✓  Referral strategy + scripts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681728" y="3794760"/>
            <a:ext cx="1892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✓  On-page SEO recommendations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681728" y="4133088"/>
            <a:ext cx="1892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✓  Dashboard access (Q2 2026)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757416" y="1371600"/>
            <a:ext cx="2029968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30568" y="1389888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Premium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6830568" y="1682496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$2,500/mo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7799832" y="1389888"/>
            <a:ext cx="914400" cy="21945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799832" y="13898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MONTH 4+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6757416" y="2029968"/>
            <a:ext cx="2029968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6848856" y="2103120"/>
            <a:ext cx="1892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</a:rPr>
              <a:t>✓  Everything in Growth, plus: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848856" y="2441448"/>
            <a:ext cx="1892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✓  Paid ads — Google and/or Meta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6848856" y="2779776"/>
            <a:ext cx="1892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✓  CRO landing pages per campaign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6848856" y="3118104"/>
            <a:ext cx="1892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✓  Link building (up to 5/mo)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6848856" y="3456432"/>
            <a:ext cx="1892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✓  Competitor monitoring monthly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6848856" y="3794760"/>
            <a:ext cx="1892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✓  AEO — AI search optimisation*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6848856" y="4133088"/>
            <a:ext cx="1892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✓  Quarterly strategy document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320040" y="4681728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All tiers month-to-month. Premium ad spend billed separately direct to Google/Meta.  *AEO is experimental — best practices still evolving.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"/>
            <a:ext cx="91440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LB Marketing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0" y="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Service Tiers — What's Included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Confidential  -  LB Marketing  -  San Francisco, CA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" y="54864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Tier Unlocks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0040" y="107899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Each tier builds on the last. Move up when you're ready — no pressure, no lock-in.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444752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444752"/>
            <a:ext cx="73152" cy="749808"/>
          </a:xfrm>
          <a:prstGeom prst="rect">
            <a:avLst/>
          </a:prstGeom>
          <a:solidFill>
            <a:srgbClr val="2E2E3A"/>
          </a:solidFill>
          <a:ln w="12700">
            <a:solidFill>
              <a:srgbClr val="2E2E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48132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2E3A"/>
                </a:solidFill>
              </a:rPr>
              <a:t>Month 1 Demo  •  $200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1810512"/>
            <a:ext cx="1005840" cy="237744"/>
          </a:xfrm>
          <a:prstGeom prst="rect">
            <a:avLst/>
          </a:prstGeom>
          <a:solidFill>
            <a:srgbClr val="2E2E3A"/>
          </a:solidFill>
          <a:ln w="12700">
            <a:solidFill>
              <a:srgbClr val="2E2E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81051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Foundation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017520" y="1481328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Full audit, GBP optimisation, review responses, and a 5–10 review campaign. Before/after report delivered end of Week 4. You see the work — then decide.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766560" y="148132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KPIs: GBP completion score, review count +5-10, ranking baseline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2249424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249424"/>
            <a:ext cx="73152" cy="7498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2860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</a:rPr>
              <a:t>Starter  •  $750/mo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2615184"/>
            <a:ext cx="1005840" cy="23774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61518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Maintain + Momentum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017520" y="228600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4 GBP posts/month, Yelp management, monthly review drip, citation audit, 5 keywords tracked, website maintenance, and a 30-min monthly call + report.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766560" y="228600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KPIs: Review velocity, GBP view trend, keyword rank movement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" y="3054096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3054096"/>
            <a:ext cx="73152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09067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Growth  •  $1,500/mo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2920" y="3419856"/>
            <a:ext cx="1005840" cy="23774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41985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Content + SEO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017520" y="3090672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Adds 2 blog posts/month, 8 social posts, 10-15 keyword tracking, referral strategy with ready-to-send scripts, on-page SEO, and reporting dashboard (Q2 2026).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766560" y="3090672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KPIs: Organic traffic, keyword rankings (top 10+), referral pipeline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0040" y="3858768"/>
            <a:ext cx="8503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0040" y="3858768"/>
            <a:ext cx="73152" cy="7498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389534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</a:rPr>
              <a:t>Premium  •  $2,500/mo + ad spend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02920" y="4224528"/>
            <a:ext cx="1005840" cy="2377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422452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Paid Ads + Full Funnel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017520" y="3895344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Adds paid ads (Google and/or Meta), CRO landing pages per campaign, up to 5 link placements/month, competitor monitoring, AEO (experimental), and a quarterly strategy document.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766560" y="3895344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KPIs: Cost per lead, ROAS, competitor gap, domain authority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"/>
            <a:ext cx="91440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LB Marketing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0" y="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The Roadmap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Confidential  -  LB Marketing  -  San Francisco, CA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" y="54864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 Is Just the Beginning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0040" y="107899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Each phase builds on the last. Leading indicators in Month 1 unlock every service that follows.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" y="1426464"/>
            <a:ext cx="1664208" cy="566928"/>
          </a:xfrm>
          <a:prstGeom prst="rect">
            <a:avLst/>
          </a:prstGeom>
          <a:solidFill>
            <a:srgbClr val="2E2E3A"/>
          </a:solidFill>
          <a:ln w="12700">
            <a:solidFill>
              <a:srgbClr val="2E2E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" y="1444752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Month 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170432" y="1463040"/>
            <a:ext cx="676656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70432" y="1463040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DEMO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329184" y="1700784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Fast Foundation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6032" y="2029968"/>
            <a:ext cx="166420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6032" y="2029968"/>
            <a:ext cx="1664208" cy="256032"/>
          </a:xfrm>
          <a:prstGeom prst="rect">
            <a:avLst/>
          </a:prstGeom>
          <a:solidFill>
            <a:srgbClr val="2E2E3A"/>
          </a:solidFill>
          <a:ln w="12700">
            <a:solidFill>
              <a:srgbClr val="2E2E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0896" y="202996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GBP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10896" y="230428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GBP fully optimised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56032" y="2715768"/>
            <a:ext cx="166420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6032" y="2715768"/>
            <a:ext cx="1664208" cy="256032"/>
          </a:xfrm>
          <a:prstGeom prst="rect">
            <a:avLst/>
          </a:prstGeom>
          <a:solidFill>
            <a:srgbClr val="2E2E3A"/>
          </a:solidFill>
          <a:ln w="12700">
            <a:solidFill>
              <a:srgbClr val="2E2E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0896" y="271576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REVIEWS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10896" y="299008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Review campaign (5-10 target)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56032" y="3401568"/>
            <a:ext cx="166420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6032" y="3401568"/>
            <a:ext cx="1664208" cy="256032"/>
          </a:xfrm>
          <a:prstGeom prst="rect">
            <a:avLst/>
          </a:prstGeom>
          <a:solidFill>
            <a:srgbClr val="2E2E3A"/>
          </a:solidFill>
          <a:ln w="12700">
            <a:solidFill>
              <a:srgbClr val="2E2E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0896" y="340156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AUDIT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10896" y="367588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Full presence audit &amp; report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56032" y="4087368"/>
            <a:ext cx="166420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6032" y="4087368"/>
            <a:ext cx="1664208" cy="256032"/>
          </a:xfrm>
          <a:prstGeom prst="rect">
            <a:avLst/>
          </a:prstGeom>
          <a:solidFill>
            <a:srgbClr val="2E2E3A"/>
          </a:solidFill>
          <a:ln w="12700">
            <a:solidFill>
              <a:srgbClr val="2E2E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0896" y="408736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RESPONSES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10896" y="436168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All reviews responded to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938528" y="1481328"/>
            <a:ext cx="109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›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1993392" y="1426464"/>
            <a:ext cx="1664208" cy="5669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66544" y="144475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Month 2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066544" y="1700784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Website + Content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993392" y="2029968"/>
            <a:ext cx="166420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993392" y="2029968"/>
            <a:ext cx="1664208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048256" y="202996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WEBSITE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048256" y="230428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Custom website launched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993392" y="2715768"/>
            <a:ext cx="166420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93392" y="2715768"/>
            <a:ext cx="1664208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48256" y="271576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SEO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2048256" y="299008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On-page SEO from day one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993392" y="3401568"/>
            <a:ext cx="166420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993392" y="3401568"/>
            <a:ext cx="1664208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048256" y="340156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SOCIAL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048256" y="367588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Social posts begin (4×/mo)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993392" y="4087368"/>
            <a:ext cx="166420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993392" y="4087368"/>
            <a:ext cx="1664208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048256" y="408736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CONTENT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048256" y="436168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Blog &amp; local content starts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675888" y="1481328"/>
            <a:ext cx="109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›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3730752" y="1426464"/>
            <a:ext cx="1664208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803904" y="144475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Month 3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3803904" y="1700784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Reviews + Surveys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730752" y="2029968"/>
            <a:ext cx="166420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730752" y="2029968"/>
            <a:ext cx="1664208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785616" y="202996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ANALYSIS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3785616" y="230428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Review monitoring &amp; analysis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730752" y="2715768"/>
            <a:ext cx="166420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730752" y="2715768"/>
            <a:ext cx="1664208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785616" y="271576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SURVEYS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3785616" y="299008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Customer satisfaction surveys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730752" y="3401568"/>
            <a:ext cx="166420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730752" y="3401568"/>
            <a:ext cx="1664208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785616" y="340156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SOCIAL+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3785616" y="367588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Social scaled (8×/mo)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3730752" y="4087368"/>
            <a:ext cx="166420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730752" y="4087368"/>
            <a:ext cx="1664208" cy="2560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785616" y="408736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REFERRALS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3785616" y="436168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Referral outreach begins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5413248" y="1481328"/>
            <a:ext cx="109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›</a:t>
            </a:r>
            <a:endParaRPr lang="en-US" sz="1400" dirty="0"/>
          </a:p>
        </p:txBody>
      </p:sp>
      <p:sp>
        <p:nvSpPr>
          <p:cNvPr id="71" name="Shape 69"/>
          <p:cNvSpPr/>
          <p:nvPr/>
        </p:nvSpPr>
        <p:spPr>
          <a:xfrm>
            <a:off x="5468112" y="1426464"/>
            <a:ext cx="1664208" cy="566928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541264" y="1444752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Month 4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5541264" y="1700784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Paid Ads Launch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5468112" y="2029968"/>
            <a:ext cx="166420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468112" y="2029968"/>
            <a:ext cx="1664208" cy="256032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522976" y="202996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PAID ADS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5522976" y="230428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Google &amp; Meta campaigns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5468112" y="2715768"/>
            <a:ext cx="166420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468112" y="2715768"/>
            <a:ext cx="1664208" cy="256032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522976" y="271576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TARGETING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5522976" y="299008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Hyper-local targeting set up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5468112" y="3401568"/>
            <a:ext cx="166420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468112" y="3401568"/>
            <a:ext cx="1664208" cy="256032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522976" y="340156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RETARGET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5522976" y="367588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Website retargeting enabled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5468112" y="4087368"/>
            <a:ext cx="166420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468112" y="4087368"/>
            <a:ext cx="1664208" cy="256032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522976" y="408736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FUNNEL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5522976" y="436168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Full search-to-lead funnel tracked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7150608" y="1481328"/>
            <a:ext cx="109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›</a:t>
            </a:r>
            <a:endParaRPr lang="en-US" sz="1400" dirty="0"/>
          </a:p>
        </p:txBody>
      </p:sp>
      <p:sp>
        <p:nvSpPr>
          <p:cNvPr id="91" name="Shape 89"/>
          <p:cNvSpPr/>
          <p:nvPr/>
        </p:nvSpPr>
        <p:spPr>
          <a:xfrm>
            <a:off x="7205472" y="1426464"/>
            <a:ext cx="1664208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7278624" y="1444752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Month 5+</a:t>
            </a:r>
            <a:endParaRPr lang="en-US" sz="1200" dirty="0"/>
          </a:p>
        </p:txBody>
      </p:sp>
      <p:sp>
        <p:nvSpPr>
          <p:cNvPr id="93" name="Shape 91"/>
          <p:cNvSpPr/>
          <p:nvPr/>
        </p:nvSpPr>
        <p:spPr>
          <a:xfrm>
            <a:off x="8119872" y="1463040"/>
            <a:ext cx="676656" cy="2011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8119872" y="1463040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ONGOING</a:t>
            </a:r>
            <a:endParaRPr lang="en-US" sz="700" dirty="0"/>
          </a:p>
        </p:txBody>
      </p:sp>
      <p:sp>
        <p:nvSpPr>
          <p:cNvPr id="95" name="Text 93"/>
          <p:cNvSpPr/>
          <p:nvPr/>
        </p:nvSpPr>
        <p:spPr>
          <a:xfrm>
            <a:off x="7278624" y="1700784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Scale &amp; Optimise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7205472" y="2029968"/>
            <a:ext cx="166420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7205472" y="2029968"/>
            <a:ext cx="1664208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7260336" y="202996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REPORTING</a:t>
            </a:r>
            <a:endParaRPr lang="en-US" sz="800" dirty="0"/>
          </a:p>
        </p:txBody>
      </p:sp>
      <p:sp>
        <p:nvSpPr>
          <p:cNvPr id="99" name="Text 97"/>
          <p:cNvSpPr/>
          <p:nvPr/>
        </p:nvSpPr>
        <p:spPr>
          <a:xfrm>
            <a:off x="7260336" y="230428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Quarterly strategy review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7205472" y="2715768"/>
            <a:ext cx="166420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205472" y="2715768"/>
            <a:ext cx="1664208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7260336" y="271576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ADS OPT</a:t>
            </a:r>
            <a:endParaRPr lang="en-US" sz="800" dirty="0"/>
          </a:p>
        </p:txBody>
      </p:sp>
      <p:sp>
        <p:nvSpPr>
          <p:cNvPr id="103" name="Text 101"/>
          <p:cNvSpPr/>
          <p:nvPr/>
        </p:nvSpPr>
        <p:spPr>
          <a:xfrm>
            <a:off x="7260336" y="299008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Ad spend optimised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7205472" y="3401568"/>
            <a:ext cx="166420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7205472" y="3401568"/>
            <a:ext cx="1664208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7260336" y="340156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DASHBOARD</a:t>
            </a:r>
            <a:endParaRPr lang="en-US" sz="800" dirty="0"/>
          </a:p>
        </p:txBody>
      </p:sp>
      <p:sp>
        <p:nvSpPr>
          <p:cNvPr id="107" name="Text 105"/>
          <p:cNvSpPr/>
          <p:nvPr/>
        </p:nvSpPr>
        <p:spPr>
          <a:xfrm>
            <a:off x="7260336" y="367588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Live performance dashboard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7205472" y="4087368"/>
            <a:ext cx="1664208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7205472" y="4087368"/>
            <a:ext cx="1664208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7260336" y="4087368"/>
            <a:ext cx="1572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PLATFORM</a:t>
            </a:r>
            <a:endParaRPr lang="en-US" sz="800" dirty="0"/>
          </a:p>
        </p:txBody>
      </p:sp>
      <p:sp>
        <p:nvSpPr>
          <p:cNvPr id="111" name="Text 109"/>
          <p:cNvSpPr/>
          <p:nvPr/>
        </p:nvSpPr>
        <p:spPr>
          <a:xfrm>
            <a:off x="7260336" y="4361688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AI-powered insights &amp; alerts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"/>
            <a:ext cx="91440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LB Marketing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0" y="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Platform &amp; Analytics Roadmap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Confidential  -  LB Marketing  -  San Francisco, CA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" y="54864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Coming: Platform &amp; Reporting Upgrades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20040" y="107899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Our proprietary platform is built specifically for local businesses. Here's what we're shipping next.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417320"/>
            <a:ext cx="283464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4173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Now  —  Live Today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1810512"/>
            <a:ext cx="28346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865376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49808" y="1865376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Month-End Report Builder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49808" y="2139696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Automated before/after reports comparing GBP views, review count, and keyword rankings.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560320"/>
            <a:ext cx="28346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2615184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⭐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49808" y="2615184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Review Request Composer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49808" y="2889504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Personalised SMS &amp; email review request campaigns, pre-written per vertical.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3310128"/>
            <a:ext cx="28346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3364992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49808" y="3364992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Task &amp; Delivery Tracker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9808" y="3639312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Internal tool tracking every deliverable per client, week by week.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4059936"/>
            <a:ext cx="28346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4114800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📝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49808" y="4114800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Client Intake &amp; Audit Tool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49808" y="4389120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Structured onboarding and audit report builder to kick off every engagement.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27832" y="1417320"/>
            <a:ext cx="283464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19272" y="14173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Next  —  Q2 2026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227832" y="1810512"/>
            <a:ext cx="28346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319272" y="1865376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🤖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703320" y="1865376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AI-Powered Review Replies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703320" y="2139696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Claude-powered auto-reply to new Google reviews — tone-matched to your business voice.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27832" y="2560320"/>
            <a:ext cx="28346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319272" y="2615184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📈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3703320" y="2615184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Live Rankings Dashboard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703320" y="2889504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Real-time keyword rank tracking for your top 10 local search terms.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227832" y="3310128"/>
            <a:ext cx="28346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3319272" y="3364992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🗓️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3703320" y="3364992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GBP Post Scheduler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703320" y="3639312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Schedule and publish Google Business Profile posts directly from the platform.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227832" y="4059936"/>
            <a:ext cx="28346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3319272" y="4114800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🔔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3703320" y="4114800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Review Alerts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703320" y="4389120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Instant notifications when new reviews arrive — no more checking manually.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181344" y="1417320"/>
            <a:ext cx="283464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72784" y="14173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Later  —  Q3/Q4 2026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181344" y="1810512"/>
            <a:ext cx="28346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6272784" y="1865376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📡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656832" y="1865376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Competitor Tracking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656832" y="2139696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Automated monitoring of competitor review counts, ratings, and ranking movements.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181344" y="2560320"/>
            <a:ext cx="28346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6272784" y="2615184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💬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656832" y="2615184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Client-Facing Portal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656832" y="2889504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Clients log in to see their own real-time dashboard — full transparency.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181344" y="3310128"/>
            <a:ext cx="28346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6272784" y="3364992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🎯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656832" y="3364992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Campaign Performance Hub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656832" y="3639312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Unified view of paid ads, organic, reviews, and referrals in one dashboard.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181344" y="4059936"/>
            <a:ext cx="283464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6272784" y="4114800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🧠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656832" y="4114800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AI Insights &amp; Recommendations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6656832" y="4389120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Weekly AI-generated action items based on what's working across all clients.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See Results in 30 Days?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914400" y="146304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Let's book your onboarding call. We'll confirm access, align on priorities,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</a:rPr>
              <a:t>and start the audit immediately. No paperwork, no commitment beyond Month 1.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2377440"/>
            <a:ext cx="91440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2560320"/>
            <a:ext cx="4023360" cy="2011680"/>
          </a:xfrm>
          <a:prstGeom prst="rect">
            <a:avLst/>
          </a:prstGeom>
          <a:solidFill>
            <a:srgbClr val="2E2E3A"/>
          </a:solidFill>
          <a:ln w="12700">
            <a:solidFill>
              <a:srgbClr val="2E2E3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6334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Get In Touch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9992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Anthony Omar Valenzuela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2918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anthony@lbmarketing.com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5661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323-787-5671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8404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</a:rPr>
              <a:t>lbmarketing.com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2560320"/>
            <a:ext cx="4023360" cy="2011680"/>
          </a:xfrm>
          <a:prstGeom prst="rect">
            <a:avLst/>
          </a:prstGeom>
          <a:solidFill>
            <a:srgbClr val="2E2E3A"/>
          </a:solidFill>
          <a:ln w="12700">
            <a:solidFill>
              <a:srgbClr val="2E2E3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37760" y="26334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Next Steps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299923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1.  Sign off on GBP access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334670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2.  Book 20-min onboarding call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369417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3.  We start Day 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0" y="4800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No lock-in  •  Month-to-month  •  Results by Week 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LB Marketing — Fellom &amp; Solorio Law Offices</dc:title>
  <dc:subject>PptxGenJS Presentation</dc:subject>
  <dc:creator>PptxGenJS</dc:creator>
  <cp:lastModifiedBy>PptxGenJS</cp:lastModifiedBy>
  <cp:revision>1</cp:revision>
  <dcterms:created xsi:type="dcterms:W3CDTF">2026-03-22T06:01:00Z</dcterms:created>
  <dcterms:modified xsi:type="dcterms:W3CDTF">2026-03-22T06:01:00Z</dcterms:modified>
</cp:coreProperties>
</file>