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Local Digital Marketing — Results in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502920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Presented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Fellom &amp; Solorio Law Offices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San Francisco, CA  • 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2560320" cy="566928"/>
          </a:xfrm>
          <a:prstGeom prst="rect">
            <a:avLst/>
          </a:prstGeom>
          <a:solidFill>
            <a:srgbClr val="2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816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Month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18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No Lock-In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364992"/>
            <a:ext cx="2560320" cy="566928"/>
          </a:xfrm>
          <a:prstGeom prst="rect">
            <a:avLst/>
          </a:prstGeom>
          <a:solidFill>
            <a:srgbClr val="2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4381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To First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86784"/>
            <a:ext cx="2560320" cy="566928"/>
          </a:xfrm>
          <a:prstGeom prst="rect">
            <a:avLst/>
          </a:prstGeom>
          <a:solidFill>
            <a:srgbClr val="2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0599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5-10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462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New Reviews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About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2E3A"/>
                </a:solidFill>
                <a:latin typeface="Calibri"/>
              </a:rPr>
              <a:t>LB Marketing is a San Francisco, CA-based local digital marketing agency built specifically for small and medium businesses in three verticals: Salons &amp; Spas, Legal &amp; Professional Services, and Home Services. We combine hands-on agency work with a proprietary software platform to deliver measurable results -- fast.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64008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5877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Results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34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Tangible outcomes by end of Week 4 -- before you commit to anything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51460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2514600"/>
            <a:ext cx="64008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25877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No Lock-In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834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Month-to-month structure. Earn your trust every month.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64008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5935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Vertical Expertise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840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Deep focus on 3 industries means faster wins, not generic strategy.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520440"/>
            <a:ext cx="4160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520440"/>
            <a:ext cx="64008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35935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Proprietary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8404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Built-in tools for audit reports, review campaigns &amp; month-end reporting.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548640"/>
            <a:ext cx="310896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621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960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checkmark  Audit -&gt; Fix -&gt;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1261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checkmark  Leads with leading indicators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5636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checkmark  Specific gaps, not generic pitches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8653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  checkmark  Platform-powered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Your Business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What We Found: Fellom &amp; Solorio Law Offices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A snapshot of your current online presence -- the gaps and the opportunities.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64008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44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Google Business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Claimed — incomplete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Star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4.7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237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Review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32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71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Map Pack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8712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Not ranked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218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Citation 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Consistent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Last Review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913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371600"/>
            <a:ext cx="64008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14447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Map Pack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nearby competitors are optimised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Review Gap vs. Top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Top competitor has 1441 reviews vs. your 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Keyword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5237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'immigration law office San Francisco' — not in top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28712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Profile Completion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71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Not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3218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Review Velocity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Averaging 1 review/month — room to 10×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Unanswered Reviews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32 reviews with no owner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3913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2E3A"/>
                </a:solidFill>
                <a:latin typeface="Calibri"/>
              </a:rPr>
              <a:t>Quick Win Potential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9136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HIGH — GBP + reviews can move in 30 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Local Competitor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How You Stack Up Against Local Competitors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Data pulled from Google &amp; Yelp for your primary service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92024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1847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371600"/>
            <a:ext cx="109728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408176"/>
            <a:ext cx="1024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Google 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109728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08176"/>
            <a:ext cx="1024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Review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371600"/>
            <a:ext cx="100584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08176"/>
            <a:ext cx="932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Map Pack?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371600"/>
            <a:ext cx="118872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408176"/>
            <a:ext cx="1115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GBP Complete?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1371600"/>
            <a:ext cx="914400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40817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Website?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64208"/>
            <a:ext cx="19202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1728216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Fellom &amp; Solorio Law Offices  &lt;-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1664208"/>
            <a:ext cx="1097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1728216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1664208"/>
            <a:ext cx="1097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728216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1664208"/>
            <a:ext cx="1005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172821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1664208"/>
            <a:ext cx="11887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1728216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1664208"/>
            <a:ext cx="914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72821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192024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112264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KPB Immigration Law Firm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204825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211226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4.9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2048256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211226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1441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048256"/>
            <a:ext cx="1005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211226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2048256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112264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2048256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11226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432304"/>
            <a:ext cx="192024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2496312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Law Offices of Shamieh, Shamieh &amp; Ternieden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2432304"/>
            <a:ext cx="10972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24963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4.8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2432304"/>
            <a:ext cx="10972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24963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418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2432304"/>
            <a:ext cx="100584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249631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432304"/>
            <a:ext cx="11887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249631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432304"/>
            <a:ext cx="91440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249631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2816352"/>
            <a:ext cx="192024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2880360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Kolomejec Law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40280" y="2816352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288036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4.9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2816352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0" y="288036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364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4840" y="2816352"/>
            <a:ext cx="10058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0560" y="288036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2816352"/>
            <a:ext cx="11887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288036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29400" y="2816352"/>
            <a:ext cx="914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288036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3200400"/>
            <a:ext cx="192024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3264408"/>
            <a:ext cx="1847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Silveira Law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0280" y="3200400"/>
            <a:ext cx="10972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0" y="3264408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4.8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200400"/>
            <a:ext cx="10972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83280" y="3264408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247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4840" y="3200400"/>
            <a:ext cx="100584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0560" y="326440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3200400"/>
            <a:ext cx="11887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0" y="326440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9400" y="3200400"/>
            <a:ext cx="91440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75120" y="326440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Yes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069080"/>
            <a:ext cx="8503920" cy="6583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Key Insight: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0" y="4133087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Fellom &amp; Solorio Law Offices's rating (4.7) trails the competitor average (4.8). 4 of 4 competitors have more reviews (top: 1441 vs 32) — growing review volume is the fastest path to closing this gap.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Month 1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Your First 30 Days -- What We Deliver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0058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435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910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Full Digital Presence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74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Google Business Profile, Yelp, website, reviews, local rankings reviewed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1854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Written audit report delivered by Day 5 -- prioritised action list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88720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188720"/>
            <a:ext cx="10058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12435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5910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GBP Optimisation + Review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1874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Every GBP field completed: categories, services, hours, photos,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1854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All unanswered reviews responded to professionally (positive &amp; negative)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10058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026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374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Review Generation Campaign +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657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Personalised SMS/email review requests sent to recent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9684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Target: 5-10 new Google reviews in Month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27939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First content published (vertical-specific -- see next slide)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971800"/>
            <a:ext cx="41605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2971800"/>
            <a:ext cx="10058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026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3374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Month-End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657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Before/after comparison across every metric tracked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39684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- Rankings, review count &amp; rating, profile views -- clearly documented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Vertical-Specific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Month 1 Extras: Tailored to Your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universal Month 1 package plus the actions that move the needle fastest for your specific vertical.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83667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836676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2646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Legal &amp; Professional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Local keyword ranking baseline (top 5 practice-area + city terms)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GBP services section fully built out with practice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On-page SEO quick-fixes applied to homepage &amp; top service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Post-matter review request process set up + first batch 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Quick-win target: map pack entry for 1+ core keyword by Day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Your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We Adapt To Where You Are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4160520" cy="33101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Established but Invisible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You have a solid business but little or no online presence. Customers find you through referrals, not search.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6858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8658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5915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Audit + full GBP build-out from scratch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62072"/>
            <a:ext cx="6858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88950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620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Citations, categories, photos, service 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64992"/>
            <a:ext cx="6858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9242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649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First review generation campaign to existing customers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67912"/>
            <a:ext cx="68580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9534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679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First reviews in -- profile views increasing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325880"/>
            <a:ext cx="4160520" cy="33101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41732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Present but Underperforming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78308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You've tried -- a website, a Google listing, maybe social -- but results are inconsistent and your rating is holding you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359152"/>
            <a:ext cx="6858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8888" y="238658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35915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Audit -- emphasis on what's actively hurting 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862072"/>
            <a:ext cx="6858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288950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8620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Respond to negative reviews; correct inconsistent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3364992"/>
            <a:ext cx="6858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339242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3649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Review velocity campaign -- push rating above 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3867912"/>
            <a:ext cx="6858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895344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8679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Star rating improved; negative review ratio reduced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  Fellom &amp; Solorio Law Offices best fits:  [ ] Established but Invisible     [X] Present but Underperforming     [ ] Mix of both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What We Need From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Three Things -- That's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We handle everything else. Here's your only to-do list for Month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463040"/>
            <a:ext cx="7772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463040"/>
            <a:ext cx="54864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517904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Google Business Profile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1051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Owner-level access so we can make changes directly. Takes 2 minutes to grant.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68880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56032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468880"/>
            <a:ext cx="7772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2468880"/>
            <a:ext cx="54864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523744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20-Minute Onboarding Call -- 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1635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We learn your business priorities, confirm your target keywords, and set reporting preferences.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74720"/>
            <a:ext cx="658368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566160"/>
            <a:ext cx="6583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474720"/>
            <a:ext cx="7772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3474720"/>
            <a:ext cx="54864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529584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 Handful of Customer Names /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2219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2E3A"/>
                </a:solidFill>
                <a:latin typeface="Calibri"/>
              </a:rPr>
              <a:t>For the Week 3 review request campaign. We draft every message -- you just provide the list.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251960"/>
            <a:ext cx="8503920" cy="6217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No Lock-In.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32511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Month 1 is month-to-month. If we haven't earned your confidence by end of Week 4, you can walk away -- no penalties, no awkward conversations.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Why LB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How We Compare to Other Marketing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1031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029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Feature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143000"/>
            <a:ext cx="15544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188720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143000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188720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Hibu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143000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188720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Generic Agency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143000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88720"/>
            <a:ext cx="14813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DIY / In-House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481328"/>
            <a:ext cx="21031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545336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Contract / Lock-In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481328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154533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None -- month-to-month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40" y="1481328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54533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12-24 month contracts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1481328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154533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Often 6-12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481328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54533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N/A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865376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1929384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Local SEO Expertise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1865376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19293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Deep -- 3 verticals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40" y="186537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19293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Generalist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186537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19293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Varies widely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186537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192938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Limited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249424"/>
            <a:ext cx="21031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31343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GBP Optimisation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2249424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23134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Week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40" y="2249424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23134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(slow)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2249424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23134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Sometimes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2249424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23134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Manual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633472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697480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Review Generation Campaign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633472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80" y="269748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Week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40" y="263347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269748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Limited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263347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269748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Add-on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263347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269748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Time-intensive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017520"/>
            <a:ext cx="21031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081528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Month-End Reporting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23160" y="3017520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80" y="30815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Week 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7640" y="3017520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23360" y="30815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Automated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3017520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0" y="30815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Varies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86600" y="3017520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0" y="308152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40156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465576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Results in First 30 Days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23160" y="3401568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68880" y="34655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Guaranteed focus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7640" y="34015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0" y="34655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Unlikely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32120" y="34015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77840" y="34655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Setup phase only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86600" y="34015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0" y="34655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Unlikely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3785616"/>
            <a:ext cx="210312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3849624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Proprietary Platform / Tools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3160" y="3785616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68880" y="384962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Included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77640" y="3785616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23360" y="384962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32120" y="3785616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77840" y="384962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86600" y="3785616"/>
            <a:ext cx="1554480" cy="3657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0" y="3849624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4169664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423367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2E3A"/>
                </a:solidFill>
                <a:latin typeface="Calibri"/>
              </a:rPr>
              <a:t>Trustpilot / Review Score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23160" y="4169664"/>
            <a:ext cx="1554480" cy="3657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68880" y="423367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N/A -- new agency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77640" y="41696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023360" y="423367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~2.5 / 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32120" y="41696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7840" y="423367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Varies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6600" y="41696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0" y="423367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2E3A"/>
                </a:solidFill>
                <a:latin typeface="Calibri"/>
              </a:rPr>
              <a:t>N/A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Investment &amp; Service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Month 1 is the demo. Continued tiers reflect the ongoing scope of work as your presence grows.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743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27432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07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1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184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380744"/>
            <a:ext cx="1005840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38988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E2761"/>
                </a:solidFill>
                <a:latin typeface="Calibri"/>
              </a:rPr>
              <a:t>START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20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Full Digital Presence Audit (written report)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2257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Google Business Profile Optimisation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Review Response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1272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Review Generation Campaign (5-10 new reviews target)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5295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Month-End Before/After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Vertical-specific quick-win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3425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No contract -- cancel anytime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325880"/>
            <a:ext cx="2743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25880"/>
            <a:ext cx="27432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3807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Growth  (Month 2+)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6184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$1,500/mo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920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Everything in Month 1, 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32257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Content programme (blog, social, local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Ongoing SEO -- keyword tracking &amp;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1272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Referral &amp; local partnership outreach (Month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5295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Monthly reporting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931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Tier in development -- details to follow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325880"/>
            <a:ext cx="2743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325880"/>
            <a:ext cx="27432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3807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Scale  (Month 4+)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6184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$2,000/mo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920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Everything in Growth, plus: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32257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Paid campaign testing (where appropriate)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72491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Full-funnel visibility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272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2E3A"/>
                </a:solidFill>
                <a:latin typeface="Calibri"/>
              </a:rPr>
              <a:t>  Priority support &amp; quarterly strategy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52958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Tier in development -- details to follow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All tiers are month-to-month. Growth &amp; Scale tiers are actively being refined -- pricing and inclusions subject to change.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LB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The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Month 1 Is Just the Beginning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Each phase builds on the last. Leading indicators in Month 1 unlock every service that follows.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6459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16459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362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6736" y="1389888"/>
            <a:ext cx="594360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139446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E2761"/>
                </a:solidFill>
                <a:latin typeface="Calibri"/>
              </a:rPr>
              <a:t>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60020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Fast Foundation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892808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11096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GBP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112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Google Business Profile fully optimised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06040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24328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254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Review generation campaign (5-10 target)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19272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53872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Full digital presence audit &amp;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32504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50792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RESPONSES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5196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All existing reviews responded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2818" y="1490472"/>
            <a:ext cx="54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4540" y="1325880"/>
            <a:ext cx="16459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34540" y="1325880"/>
            <a:ext cx="164592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7692" y="1362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7692" y="160020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Website +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5980" y="1892808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25980" y="1911096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WEBSITE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5980" y="2112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Custom website designed &amp; launched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25980" y="2606040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25980" y="2624328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5980" y="28254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On-page SEO applied from day 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5980" y="3319272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25980" y="3337560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5980" y="353872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Social media posts begin (4x / month)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5980" y="4032504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25980" y="4050792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5980" y="425196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Blog &amp; local content programme starts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7318" y="1490472"/>
            <a:ext cx="54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1325880"/>
            <a:ext cx="16459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49040" y="1325880"/>
            <a:ext cx="16459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22192" y="1362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2192" y="160020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Reviews + Surveys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1892808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0" y="1911096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2112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Ongoing review monitoring &amp; analysis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2606040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2624328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SURVEYS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28254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Customer satisfaction surveys launched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319272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0" y="3337560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SOCIAL+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353872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Social posting scaled (8x / month)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032504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0" y="4050792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REFERRALS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425196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Referral &amp; local partnership outreach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01818" y="1490472"/>
            <a:ext cx="54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&gt;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63540" y="1325880"/>
            <a:ext cx="16459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63540" y="1325880"/>
            <a:ext cx="1645920" cy="4754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6692" y="1362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160020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Paid Ads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54980" y="1892808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4980" y="1911096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PAID ADS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4980" y="2112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Google &amp; Meta paid campaigns launched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4980" y="2606040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4980" y="2624328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TARGETING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4980" y="28254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Hyper-local audience targeting set 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4980" y="3319272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4980" y="3337560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RETARGET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4980" y="353872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Website visitor retargeting enabled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4980" y="4032504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4980" y="4050792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FUNNEL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4980" y="425196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Full search-to-booking funnel tracked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6318" y="1490472"/>
            <a:ext cx="54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&gt;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78040" y="1325880"/>
            <a:ext cx="16459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78040" y="1325880"/>
            <a:ext cx="164592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51192" y="1362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 5+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74736" y="1389888"/>
            <a:ext cx="594360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74736" y="139446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E2761"/>
                </a:solidFill>
                <a:latin typeface="Calibri"/>
              </a:rPr>
              <a:t>ONGOING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51192" y="160020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Scale &amp; Optimise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80" y="1892808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69480" y="1911096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69480" y="21122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Quarterly strategy &amp; performance review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69480" y="2606040"/>
            <a:ext cx="658368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69480" y="2624328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ADS OPT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69480" y="282549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Ad spend optimised for lowest cost/lead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9480" y="3319272"/>
            <a:ext cx="658368" cy="2011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69480" y="3337560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SURVEYS+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69480" y="353872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Survey insights fed back into campaigns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69480" y="4032504"/>
            <a:ext cx="6583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9480" y="4050792"/>
            <a:ext cx="6583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69480" y="425196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2E3A"/>
                </a:solidFill>
                <a:latin typeface="Calibri"/>
              </a:rPr>
              <a:t>Live performance dashboard access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Confidential  -  LB Marketing  -  San Francisco, 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Ready to See Results in 30 Days?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Let's book your onboarding call. We'll confirm access, align on priorities, and start the audit immediately. No paperwork, no commitment beyond Month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4114800" cy="1463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42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Get In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712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Anthony Omar Valenzuela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455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anthony@lbmarketing.com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1985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323-787-5671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941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Under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468880"/>
            <a:ext cx="3840480" cy="14630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5420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87121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1.  Sign off on access (GBP)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1455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2.  Book 20-min onboarding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419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3.  We start Day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No lock-in  -  Month-to-month  -  Results by Week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  <a:latin typeface="Calibri"/>
              </a:rPr>
              <a:t>LB Marketing  -  San Francisco, CA  -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